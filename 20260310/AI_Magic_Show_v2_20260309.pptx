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309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71" r:id="rId15"/>
    <p:sldId id="268" r:id="rId16"/>
    <p:sldId id="269" r:id="rId17"/>
    <p:sldId id="272" r:id="rId18"/>
    <p:sldId id="270" r:id="rId19"/>
    <p:sldId id="273" r:id="rId20"/>
    <p:sldId id="274" r:id="rId21"/>
    <p:sldId id="275" r:id="rId22"/>
    <p:sldId id="276" r:id="rId23"/>
    <p:sldId id="280" r:id="rId24"/>
    <p:sldId id="300" r:id="rId25"/>
    <p:sldId id="299" r:id="rId26"/>
    <p:sldId id="281" r:id="rId27"/>
    <p:sldId id="279" r:id="rId28"/>
    <p:sldId id="282" r:id="rId29"/>
    <p:sldId id="283" r:id="rId30"/>
    <p:sldId id="284" r:id="rId31"/>
    <p:sldId id="285" r:id="rId32"/>
    <p:sldId id="286" r:id="rId33"/>
    <p:sldId id="292" r:id="rId34"/>
    <p:sldId id="291" r:id="rId35"/>
    <p:sldId id="290" r:id="rId36"/>
    <p:sldId id="293" r:id="rId37"/>
    <p:sldId id="294" r:id="rId38"/>
    <p:sldId id="295" r:id="rId39"/>
    <p:sldId id="296" r:id="rId40"/>
    <p:sldId id="297" r:id="rId41"/>
    <p:sldId id="301" r:id="rId42"/>
    <p:sldId id="302" r:id="rId43"/>
    <p:sldId id="303" r:id="rId44"/>
    <p:sldId id="304" r:id="rId45"/>
    <p:sldId id="306" r:id="rId46"/>
    <p:sldId id="307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106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매직쇼 표지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Sunny 프로필 사진 + AI와의 여정 개요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63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산수화 스타일. 산은 산이고 물은 물인 동양 철학적 이미지.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주사위 굴리는 AI 로봇 vs 정확한 계산기.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실시간으로 AI와 스무고개 문답 진행. 청중 참여 유도.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5단계 진행 화면 보여주기. Sunny 제공 이미지 활용.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버그 수정에 5회 반복 기법 적용.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듀얼 모드로 작업하는 화면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Claude Code에서 다른 AI CLI 실행 시연. 음성 입력(Win+H) 팁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resume, status 커맨드 실행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원격 접속으로 Claude Code 작업하는 실제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모바일에서 Claude Code 지휘하는 실제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서브에이전트를 투입하여 전문 작업 수행.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스킬 투입하여 자동화 작업 수행.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유튜브 콘텐츠 제작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뉴스 스크랩 전체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Review &amp; Evaluate 스킬 실행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30명+ 소대편제 작업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SAL Grid 방법론 적용 대형 프로젝트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비용 최적화 실제 화면. 모델별 비용 비교표.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sunwoongkyu.github.io/SUNNY_ECOSYSTEM/service-hub.html" TargetMode="External"/><Relationship Id="rId4" Type="http://schemas.openxmlformats.org/officeDocument/2006/relationships/hyperlink" Target="https://sales-system-psi.vercel.app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unwoongkyu.github.io/AI_MagicShow/cpc_flow_diagram.svg" TargetMode="Externa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unwoongkyu.github.io/AI_MagicShow/skills_overview.svg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unwoongkyu.github.io/AI_MagicShow/platoon_formation_v3.svg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salworks.ai.kr/S0_Project-SAL-Grid_%EC%83%9D%EC%84%B1/viewer/viewer_database.htm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Magic Show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2743200" y="3200400"/>
            <a:ext cx="36576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2026. 03. 10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 Contents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868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868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프롤로그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9120" y="868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마스터 Sunny 및 AI와의 여정 소개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527048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57200" y="1527048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15270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920240" y="1527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89120" y="15270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Sunny의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185416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2185416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31520" y="21854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920240" y="21854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Show 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89120" y="21854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r>
              <a:rPr lang="ko-KR" alt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사용법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2843784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8"/>
          <p:cNvSpPr/>
          <p:nvPr/>
        </p:nvSpPr>
        <p:spPr>
          <a:xfrm>
            <a:off x="457200" y="2843784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31520" y="28437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920240" y="28437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Show 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389120" y="28437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Skills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02152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3502152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31520" y="35021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920240" y="3502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 Tips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실용적인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457200" y="416052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315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9202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에필로그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38912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/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프롤로그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마스터 Sunny 및 AI와의 여정을 소개합니다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Master "Sunny"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840480" cy="37490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0" y="960120"/>
            <a:ext cx="1828800" cy="1828800"/>
          </a:xfrm>
          <a:prstGeom prst="ellipse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9778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 (선웅규)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8640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공인회계사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(CPA)  20년+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3858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스타트업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액셀러레이터  10년+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172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 10개월+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89120" y="868680"/>
            <a:ext cx="4389120" cy="37490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45720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AI와의 여정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4572000" y="1463040"/>
            <a:ext cx="3840480" cy="27432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663440" y="1737360"/>
            <a:ext cx="274320" cy="27432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1206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2025.05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AI를 만나다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922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Claude Code와의 첫 만남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2011680"/>
            <a:ext cx="54864" cy="457200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663440" y="2514600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512064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3,500시간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10개월 × 하루 12시간+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9224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활용능력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키우기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집중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754880" y="2788920"/>
            <a:ext cx="54864" cy="457200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663440" y="3291840"/>
            <a:ext cx="274320" cy="27432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512064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2026.02~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Master로서 활동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922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서비스 수익 창출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시니어 대상 코칭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3,500시간의 성과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59" y="868680"/>
            <a:ext cx="3566159" cy="121615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32861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Claude &amp; Claude Code 책 집필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287248"/>
            <a:ext cx="318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2025.09 PDF 제작 → 판매 사이트 구축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582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🔗 sales-system-psi.vercel.app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0" y="883250"/>
            <a:ext cx="4179719" cy="61033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394825" y="1055919"/>
            <a:ext cx="287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</a:t>
            </a:r>
            <a:r>
              <a:rPr lang="en-US" sz="1300" b="1" dirty="0" err="1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특허</a:t>
            </a:r>
            <a:r>
              <a:rPr lang="en-US" sz="13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300" b="1" dirty="0" err="1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출원</a:t>
            </a:r>
            <a:r>
              <a:rPr lang="en-US" sz="13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3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5건</a:t>
            </a:r>
            <a:endParaRPr lang="en-US" sz="1300" b="1" dirty="0"/>
          </a:p>
        </p:txBody>
      </p:sp>
      <p:sp>
        <p:nvSpPr>
          <p:cNvPr id="14" name="Shape 10"/>
          <p:cNvSpPr/>
          <p:nvPr/>
        </p:nvSpPr>
        <p:spPr>
          <a:xfrm>
            <a:off x="365759" y="2263140"/>
            <a:ext cx="3566158" cy="2697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48639" y="23545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50개+ 사업 기획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39" y="2688796"/>
            <a:ext cx="3383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🔗 SUNNY ECOSYSTEM Service Hub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39" y="3118347"/>
            <a:ext cx="3101872" cy="45719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39" y="3468155"/>
            <a:ext cx="287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활용 </a:t>
            </a:r>
            <a:r>
              <a:rPr lang="en-US" sz="1300" b="1" dirty="0" err="1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회계감사</a:t>
            </a: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수행</a:t>
            </a:r>
            <a:endParaRPr lang="en-US" sz="13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48639" y="4082706"/>
            <a:ext cx="22087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법률문서</a:t>
            </a: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작성 및 자문</a:t>
            </a:r>
            <a:endParaRPr lang="en-US" sz="13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114798" y="2446222"/>
            <a:ext cx="4179722" cy="251439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401805" y="2586671"/>
            <a:ext cx="31413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</a:t>
            </a:r>
            <a:r>
              <a:rPr lang="ko-KR" altLang="en-US" sz="1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시니어</a:t>
            </a:r>
            <a:r>
              <a:rPr lang="en-US" sz="1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창업자 코칭</a:t>
            </a:r>
            <a:endParaRPr lang="en-US" sz="1400" b="1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39964" y="2952634"/>
            <a:ext cx="3045183" cy="191874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0" y="1653851"/>
            <a:ext cx="4179722" cy="632107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4337" y="1817712"/>
            <a:ext cx="332933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8C00"/>
                </a:solidFill>
              </a:rPr>
              <a:t>🌐 </a:t>
            </a:r>
            <a:r>
              <a:rPr sz="1400" b="1" dirty="0" err="1">
                <a:solidFill>
                  <a:srgbClr val="FF8C00"/>
                </a:solidFill>
              </a:rPr>
              <a:t>풀스택</a:t>
            </a:r>
            <a:r>
              <a:rPr sz="1400" b="1" dirty="0">
                <a:solidFill>
                  <a:srgbClr val="FF8C00"/>
                </a:solidFill>
              </a:rPr>
              <a:t> </a:t>
            </a:r>
            <a:r>
              <a:rPr sz="1400" b="1" dirty="0" err="1">
                <a:solidFill>
                  <a:srgbClr val="FF8C00"/>
                </a:solidFill>
              </a:rPr>
              <a:t>웹사이트</a:t>
            </a:r>
            <a:r>
              <a:rPr sz="1400" b="1" dirty="0">
                <a:solidFill>
                  <a:srgbClr val="FF8C00"/>
                </a:solidFill>
              </a:rPr>
              <a:t> 6개 </a:t>
            </a:r>
            <a:r>
              <a:rPr sz="1400" b="1" dirty="0" err="1">
                <a:solidFill>
                  <a:srgbClr val="FF8C00"/>
                </a:solidFill>
              </a:rPr>
              <a:t>제작</a:t>
            </a:r>
            <a:endParaRPr sz="1400" b="1" dirty="0">
              <a:solidFill>
                <a:srgbClr val="FF8C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19526" y="182880"/>
            <a:ext cx="3633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8C00"/>
                </a:solidFill>
                <a:latin typeface="Arial Black" panose="020B0A04020102020204" pitchFamily="34" charset="0"/>
              </a:rPr>
              <a:t>📋  </a:t>
            </a:r>
            <a:r>
              <a:rPr sz="2400" b="1" dirty="0" err="1" smtClean="0">
                <a:solidFill>
                  <a:srgbClr val="FF8C00"/>
                </a:solidFill>
                <a:latin typeface="Arial Black" panose="020B0A04020102020204" pitchFamily="34" charset="0"/>
              </a:rPr>
              <a:t>특허</a:t>
            </a:r>
            <a:r>
              <a:rPr lang="en-US" sz="2400" b="1" dirty="0" smtClean="0">
                <a:solidFill>
                  <a:srgbClr val="FF8C00"/>
                </a:solidFill>
                <a:latin typeface="Arial Black" panose="020B0A04020102020204" pitchFamily="34" charset="0"/>
              </a:rPr>
              <a:t> </a:t>
            </a:r>
            <a:r>
              <a:rPr sz="2400" b="1" dirty="0" err="1" smtClean="0">
                <a:solidFill>
                  <a:srgbClr val="FF8C00"/>
                </a:solidFill>
                <a:latin typeface="Arial Black" panose="020B0A04020102020204" pitchFamily="34" charset="0"/>
              </a:rPr>
              <a:t>출원</a:t>
            </a:r>
            <a:r>
              <a:rPr sz="2400" b="1" dirty="0" smtClean="0">
                <a:solidFill>
                  <a:srgbClr val="FF8C00"/>
                </a:solidFill>
                <a:latin typeface="Arial Black" panose="020B0A04020102020204" pitchFamily="34" charset="0"/>
              </a:rPr>
              <a:t>  </a:t>
            </a:r>
            <a:r>
              <a:rPr sz="2400" b="1" dirty="0">
                <a:solidFill>
                  <a:srgbClr val="FF8C00"/>
                </a:solidFill>
                <a:latin typeface="Arial Black" panose="020B0A04020102020204" pitchFamily="34" charset="0"/>
              </a:rPr>
              <a:t>5건</a:t>
            </a:r>
          </a:p>
        </p:txBody>
      </p:sp>
      <p:sp>
        <p:nvSpPr>
          <p:cNvPr id="27" name="Rectangle 4"/>
          <p:cNvSpPr/>
          <p:nvPr/>
        </p:nvSpPr>
        <p:spPr>
          <a:xfrm>
            <a:off x="1033036" y="749808"/>
            <a:ext cx="2379546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68" y="777240"/>
            <a:ext cx="2324682" cy="2029967"/>
          </a:xfrm>
          <a:prstGeom prst="rect">
            <a:avLst/>
          </a:prstGeom>
        </p:spPr>
      </p:pic>
      <p:sp>
        <p:nvSpPr>
          <p:cNvPr id="29" name="Rectangle 6"/>
          <p:cNvSpPr/>
          <p:nvPr/>
        </p:nvSpPr>
        <p:spPr>
          <a:xfrm>
            <a:off x="3577175" y="749808"/>
            <a:ext cx="2209790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607" y="777240"/>
            <a:ext cx="2154926" cy="2029967"/>
          </a:xfrm>
          <a:prstGeom prst="rect">
            <a:avLst/>
          </a:prstGeom>
        </p:spPr>
      </p:pic>
      <p:sp>
        <p:nvSpPr>
          <p:cNvPr id="31" name="Rectangle 8"/>
          <p:cNvSpPr/>
          <p:nvPr/>
        </p:nvSpPr>
        <p:spPr>
          <a:xfrm>
            <a:off x="5951557" y="749808"/>
            <a:ext cx="2159406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989" y="777240"/>
            <a:ext cx="2104542" cy="2029967"/>
          </a:xfrm>
          <a:prstGeom prst="rect">
            <a:avLst/>
          </a:prstGeom>
        </p:spPr>
      </p:pic>
      <p:sp>
        <p:nvSpPr>
          <p:cNvPr id="33" name="Rectangle 10"/>
          <p:cNvSpPr/>
          <p:nvPr/>
        </p:nvSpPr>
        <p:spPr>
          <a:xfrm>
            <a:off x="1644688" y="2990087"/>
            <a:ext cx="2872111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120" y="3017519"/>
            <a:ext cx="2817247" cy="2029967"/>
          </a:xfrm>
          <a:prstGeom prst="rect">
            <a:avLst/>
          </a:prstGeom>
        </p:spPr>
      </p:pic>
      <p:sp>
        <p:nvSpPr>
          <p:cNvPr id="35" name="Rectangle 12"/>
          <p:cNvSpPr/>
          <p:nvPr/>
        </p:nvSpPr>
        <p:spPr>
          <a:xfrm>
            <a:off x="4681391" y="2990087"/>
            <a:ext cx="2817920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823" y="3017519"/>
            <a:ext cx="2763056" cy="20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0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풀스택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웹사이트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6개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제작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82880" y="875660"/>
            <a:ext cx="2834640" cy="19659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82880" y="868680"/>
            <a:ext cx="2834640" cy="731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74320" y="1124499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1853442"/>
            <a:ext cx="2651760" cy="764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</a:t>
            </a:r>
            <a:r>
              <a:rPr lang="ko-KR" alt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활용한</a:t>
            </a:r>
            <a:endParaRPr lang="en-US" altLang="ko-KR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altLang="ko-K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</a:t>
            </a:r>
            <a:r>
              <a:rPr lang="ko-KR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altLang="ko-K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</a:t>
            </a:r>
            <a:r>
              <a:rPr lang="ko-KR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868680"/>
            <a:ext cx="2834640" cy="19659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154680" y="868680"/>
            <a:ext cx="2834640" cy="7315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246120" y="1124499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Politician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46120" y="1881361"/>
            <a:ext cx="2651760" cy="65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기반의 </a:t>
            </a:r>
            <a:endParaRPr lang="en-US" altLang="ko-KR" sz="11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정치인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altLang="ko-KR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868680"/>
            <a:ext cx="2834640" cy="19659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126480" y="868680"/>
            <a:ext cx="2834640" cy="731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217920" y="1103559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Arial Black" panose="020B0A04020102020204" pitchFamily="34" charset="0"/>
              </a:rPr>
              <a:t>Value</a:t>
            </a:r>
          </a:p>
          <a:p>
            <a:pPr algn="ctr"/>
            <a:r>
              <a:rPr lang="ko-KR" sz="1600" b="1" dirty="0">
                <a:solidFill>
                  <a:srgbClr val="FFFFFF"/>
                </a:solidFill>
                <a:latin typeface="Arial Black" panose="020B0A04020102020204" pitchFamily="34" charset="0"/>
              </a:rPr>
              <a:t>Link</a:t>
            </a:r>
          </a:p>
        </p:txBody>
      </p:sp>
      <p:sp>
        <p:nvSpPr>
          <p:cNvPr id="20" name="Text 17"/>
          <p:cNvSpPr/>
          <p:nvPr/>
        </p:nvSpPr>
        <p:spPr>
          <a:xfrm>
            <a:off x="6217920" y="1867402"/>
            <a:ext cx="2651760" cy="74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활용한 </a:t>
            </a:r>
            <a:endParaRPr lang="en-US" altLang="ko-KR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82880" y="3031480"/>
            <a:ext cx="2834640" cy="19659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182880" y="3017520"/>
            <a:ext cx="2834640" cy="7315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274320" y="3266359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MyChatbot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74320" y="4016232"/>
            <a:ext cx="26517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라이프사이클 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3154680" y="3017520"/>
            <a:ext cx="2834640" cy="1965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54680" y="3017520"/>
            <a:ext cx="283464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46120" y="3252399"/>
            <a:ext cx="2651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Arial Black" panose="020B0A04020102020204" pitchFamily="34" charset="0"/>
              </a:rPr>
              <a:t>AX-On</a:t>
            </a:r>
          </a:p>
          <a:p>
            <a:pPr algn="ctr"/>
            <a:r>
              <a:rPr lang="ko-KR" sz="1600" b="1" dirty="0">
                <a:solidFill>
                  <a:srgbClr val="FFFFFF"/>
                </a:solidFill>
                <a:latin typeface="Arial Black" panose="020B0A04020102020204" pitchFamily="34" charset="0"/>
              </a:rPr>
              <a:t>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016232"/>
            <a:ext cx="265176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dirty="0" err="1">
                <a:solidFill>
                  <a:srgbClr val="FFFFFF"/>
                </a:solidFill>
              </a:rPr>
              <a:t>분야별</a:t>
            </a:r>
            <a:r>
              <a:rPr sz="1100" dirty="0">
                <a:solidFill>
                  <a:srgbClr val="FFFFFF"/>
                </a:solidFill>
              </a:rPr>
              <a:t> AI </a:t>
            </a:r>
            <a:r>
              <a:rPr sz="1100" dirty="0" err="1">
                <a:solidFill>
                  <a:srgbClr val="FFFFFF"/>
                </a:solidFill>
              </a:rPr>
              <a:t>전문가들이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모여서</a:t>
            </a:r>
            <a:endParaRPr sz="1100" dirty="0">
              <a:solidFill>
                <a:srgbClr val="FFFFFF"/>
              </a:solidFill>
            </a:endParaRPr>
          </a:p>
          <a:p>
            <a:pPr algn="ctr"/>
            <a:r>
              <a:rPr sz="1100" dirty="0" err="1">
                <a:solidFill>
                  <a:srgbClr val="FFFFFF"/>
                </a:solidFill>
              </a:rPr>
              <a:t>시니어</a:t>
            </a:r>
            <a:r>
              <a:rPr sz="1100" dirty="0">
                <a:solidFill>
                  <a:srgbClr val="FFFFFF"/>
                </a:solidFill>
              </a:rPr>
              <a:t> AI </a:t>
            </a:r>
            <a:r>
              <a:rPr sz="1100" dirty="0" err="1">
                <a:solidFill>
                  <a:srgbClr val="FFFFFF"/>
                </a:solidFill>
              </a:rPr>
              <a:t>창업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교육과</a:t>
            </a:r>
            <a:endParaRPr sz="1100" dirty="0">
              <a:solidFill>
                <a:srgbClr val="FFFFFF"/>
              </a:solidFill>
            </a:endParaRPr>
          </a:p>
          <a:p>
            <a:pPr algn="ctr"/>
            <a:r>
              <a:rPr sz="1100" dirty="0" err="1">
                <a:solidFill>
                  <a:srgbClr val="FFFFFF"/>
                </a:solidFill>
              </a:rPr>
              <a:t>기업</a:t>
            </a:r>
            <a:r>
              <a:rPr sz="1100" dirty="0">
                <a:solidFill>
                  <a:srgbClr val="FFFFFF"/>
                </a:solidFill>
              </a:rPr>
              <a:t> AX </a:t>
            </a:r>
            <a:r>
              <a:rPr sz="1100" dirty="0" err="1">
                <a:solidFill>
                  <a:srgbClr val="FFFFFF"/>
                </a:solidFill>
              </a:rPr>
              <a:t>프로젝트를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추진하는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플랫폼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26480" y="3017520"/>
            <a:ext cx="2834640" cy="1965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26480" y="3017520"/>
            <a:ext cx="28346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3252399"/>
            <a:ext cx="2651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Arial Black" panose="020B0A04020102020204" pitchFamily="34" charset="0"/>
              </a:rPr>
              <a:t>FX Pooling</a:t>
            </a:r>
          </a:p>
          <a:p>
            <a:pPr algn="ctr"/>
            <a:r>
              <a:rPr lang="ko-KR" sz="1600" b="1" dirty="0">
                <a:solidFill>
                  <a:srgbClr val="FFFFFF"/>
                </a:solidFill>
                <a:latin typeface="Arial Black" panose="020B0A04020102020204" pitchFamily="34" charset="0"/>
              </a:rPr>
              <a:t>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016232"/>
            <a:ext cx="265176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dirty="0" err="1">
                <a:solidFill>
                  <a:srgbClr val="FFFFFF"/>
                </a:solidFill>
              </a:rPr>
              <a:t>외환풀링</a:t>
            </a:r>
            <a:r>
              <a:rPr sz="1100" dirty="0">
                <a:solidFill>
                  <a:srgbClr val="FFFFFF"/>
                </a:solidFill>
              </a:rPr>
              <a:t> 및</a:t>
            </a:r>
          </a:p>
          <a:p>
            <a:pPr algn="ctr"/>
            <a:r>
              <a:rPr sz="1100" dirty="0" err="1">
                <a:solidFill>
                  <a:srgbClr val="FFFFFF"/>
                </a:solidFill>
              </a:rPr>
              <a:t>스테이블코인을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활용한</a:t>
            </a:r>
            <a:endParaRPr sz="1100" dirty="0">
              <a:solidFill>
                <a:srgbClr val="FFFFFF"/>
              </a:solidFill>
            </a:endParaRPr>
          </a:p>
          <a:p>
            <a:pPr algn="ctr"/>
            <a:r>
              <a:rPr sz="1100" dirty="0" err="1">
                <a:solidFill>
                  <a:srgbClr val="FFFFFF"/>
                </a:solidFill>
              </a:rPr>
              <a:t>실시간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환위험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관리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시스템</a:t>
            </a:r>
            <a:endParaRPr sz="11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Sunny의 AI 철학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 1 |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457200" y="110286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나는 AI를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믿지도 않고 안믿지도 않는다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229158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그저 AI다!!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743200" y="3114542"/>
            <a:ext cx="36576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29742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산은 산이고 물은 물인 것처럼...</a:t>
            </a:r>
            <a:endParaRPr lang="en-US" sz="2000" dirty="0"/>
          </a:p>
        </p:txBody>
      </p:sp>
      <p:sp>
        <p:nvSpPr>
          <p:cNvPr id="11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66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|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모방(模倣)의 도사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제일 잘하는 건 베끼기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256032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모방의 도사를 잘 부리는 사람은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창조의 도사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해야 할 일은 창조하기</a:t>
            </a:r>
            <a:endParaRPr lang="en-US" sz="2400" b="1" dirty="0"/>
          </a:p>
        </p:txBody>
      </p:sp>
      <p:sp>
        <p:nvSpPr>
          <p:cNvPr id="9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철학</a:t>
            </a:r>
            <a:r>
              <a:rPr lang="en-US" sz="1400" b="1" dirty="0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 3 | </a:t>
            </a:r>
            <a:r>
              <a:rPr lang="ko-KR" altLang="en-US" sz="1400" b="1" dirty="0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본질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51584" y="882856"/>
            <a:ext cx="3931920" cy="3657600"/>
          </a:xfrm>
          <a:prstGeom prst="rect">
            <a:avLst/>
          </a:prstGeom>
          <a:solidFill>
            <a:srgbClr val="3D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48640" y="110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≠ </a:t>
            </a:r>
            <a:r>
              <a:rPr lang="en-US" sz="2000" b="1" dirty="0" err="1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프로그램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548640" y="1779182"/>
            <a:ext cx="3566160" cy="253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프로그램: 정확하지만 대화 불가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답답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확률적이라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부정확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가능!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반복적 실행을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통해 개선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확률적으로 일하는 존재이고 </a:t>
            </a:r>
            <a:endParaRPr lang="en-US" altLang="ko-KR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</a:t>
            </a:r>
            <a:r>
              <a:rPr lang="ko-KR" alt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틀려도 용서를 받는 특별한 존재</a:t>
            </a:r>
            <a:endParaRPr lang="en-US" sz="1300" b="1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1A3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846320" y="109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사람이 길러야 할 능력</a:t>
            </a:r>
            <a:endParaRPr lang="en-US" sz="2000" b="1" dirty="0"/>
          </a:p>
        </p:txBody>
      </p:sp>
      <p:sp>
        <p:nvSpPr>
          <p:cNvPr id="10" name="Text 7"/>
          <p:cNvSpPr/>
          <p:nvPr/>
        </p:nvSpPr>
        <p:spPr>
          <a:xfrm>
            <a:off x="484632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AI를 잘 부리는 능력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 결과를 잘 확인하는 능력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AI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사람이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것처럼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보여도 </a:t>
            </a:r>
            <a:r>
              <a:rPr lang="ko-KR" alt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검증하고 또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철학 4 | </a:t>
            </a:r>
            <a:r>
              <a:rPr lang="ko-KR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본질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AI는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사람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의 </a:t>
            </a: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능력을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증폭시킨다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+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CPA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3832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마케터 + AI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832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마케터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4360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0350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기획자 + AI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기획자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3272705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전문성 × AI = 10배, 100배의 결과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 5 | 태도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09776" y="457199"/>
            <a:ext cx="3324448" cy="4632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|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태도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0298" y="365759"/>
            <a:ext cx="3376902" cy="45606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76802" y="691293"/>
            <a:ext cx="3931920" cy="41148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5120640" y="548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코딩이</a:t>
            </a:r>
            <a:r>
              <a:rPr lang="en-US" sz="17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아니라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프롬프팅을 하고 있다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120640" y="15544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포크레인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나왔는데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여전히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삽질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트랙터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나왔는데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여전히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낫질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코딩하는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시대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프롬프팅을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통한 개발을 한다</a:t>
            </a:r>
            <a:endParaRPr lang="en-US" altLang="ko-KR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기획서,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지침서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방법론 등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40035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개발관리방법론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바이브코딩은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미친 짓!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66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| 태도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모든 일을 AI와 함께 하는 것을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기본이자 표준으로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삼을 수밖에 없다</a:t>
            </a:r>
            <a:endParaRPr lang="en-US" sz="2200" dirty="0"/>
          </a:p>
        </p:txBody>
      </p:sp>
      <p:sp>
        <p:nvSpPr>
          <p:cNvPr id="7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665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| 태도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씨름에서의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좌절</a:t>
            </a: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15553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새로운 시작의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출발점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철학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 | </a:t>
            </a:r>
            <a:r>
              <a:rPr lang="ko-KR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원칙 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 개발만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 말고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틈틈이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콘텐츠도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만들어서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안정된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수익을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창출하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400" b="1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786384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680118" y="2697480"/>
            <a:ext cx="2468880" cy="13716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680118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유튜브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80118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롱폼/숏폼 콘텐츠 제작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68360" y="2720340"/>
            <a:ext cx="2468880" cy="13716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068360" y="28117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블로그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68360" y="32689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9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| 원칙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다룰 줄 아는 사람과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그렇지 않은 사람 간의 능력은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10배 이상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 난다고 해도 과언이 아니다</a:t>
            </a:r>
            <a:endParaRPr lang="en-US" sz="2400" dirty="0"/>
          </a:p>
        </p:txBody>
      </p:sp>
      <p:sp>
        <p:nvSpPr>
          <p:cNvPr id="6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Magic Show 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사용법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 스무고개 문답 브레인스토밍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102922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10292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스무고개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질문-답변으로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구체화하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57786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5778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아이디어 →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구체적인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계획으로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발전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12650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21265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묻고, 내가 답하고 →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생각이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되고 계획이 만들어진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 5단계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나누어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73514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9454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9454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5단계로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나누어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941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941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 완료 → 확인/테스트 → 승인 → 다음 단계 진행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04274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20427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"한번에 다 해줘"는 실패의 지름길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9138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913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체크포인트가 품질을 보장한다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117162"/>
            <a:ext cx="3285460" cy="1922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 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5회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반복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디버깅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106412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1064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형식적으로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반복할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때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 반복 디버깅을 하도록 지시하기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61276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612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프롬프트: "신중하게 심각하게 근본 원인을 찾아봐"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16140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2161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"될 때까지 5번 반복해서 검토 → 수정 → 검토 → 수정"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71004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71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 하고 나서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나한테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해"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</a:t>
            </a:r>
            <a:r>
              <a:rPr lang="en-US" sz="2400" b="1" dirty="0" err="1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듀얼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모드 실행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6289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1217683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217683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작업에 A, B 두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개의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동시 투입하는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쌍두마차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작업 시키기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766323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766323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 체킹 — 서로의 결과를 검증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14963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2314963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관점에서 문제 해결 → 종합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863603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863603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분담 병렬 진행으로 속도 2배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Multi-Role </a:t>
            </a:r>
            <a:r>
              <a:rPr lang="en-US" sz="2400" b="1" dirty="0" err="1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작업방식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704088"/>
            <a:ext cx="2292733" cy="44028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49803" y="877124"/>
            <a:ext cx="4114800" cy="3840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3832683" y="9685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5단계 멀티롤 프로세스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832683" y="1471484"/>
            <a:ext cx="3749040" cy="41148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015563" y="14714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기획자 역할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832683" y="1974404"/>
            <a:ext cx="3749040" cy="411480"/>
          </a:xfrm>
          <a:prstGeom prst="rect">
            <a:avLst/>
          </a:prstGeom>
          <a:solidFill>
            <a:srgbClr val="3498D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015563" y="19744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작성자 역할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832683" y="2477324"/>
            <a:ext cx="3749040" cy="411480"/>
          </a:xfrm>
          <a:prstGeom prst="rect">
            <a:avLst/>
          </a:prstGeom>
          <a:solidFill>
            <a:srgbClr val="2ECC7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4015563" y="24773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검토자 역할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832683" y="2980244"/>
            <a:ext cx="3749040" cy="41148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015563" y="29802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4단계: 비판자 역할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832683" y="3483164"/>
            <a:ext cx="3749040" cy="411480"/>
          </a:xfrm>
          <a:prstGeom prst="rect">
            <a:avLst/>
          </a:prstGeom>
          <a:solidFill>
            <a:srgbClr val="9B59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4015563" y="34831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5단계: 최종 수정자 역할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832683" y="40775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품질과 일관성이 최우선인 작업에서 진가 발휘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Orders/Reports JSON 시스템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978408"/>
            <a:ext cx="4297680" cy="29105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51883" y="976276"/>
            <a:ext cx="2908359" cy="36804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229092" y="1118008"/>
            <a:ext cx="2646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외부 메모리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229092" y="1515772"/>
            <a:ext cx="273115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Order Sheet</a:t>
            </a:r>
            <a:endParaRPr lang="en-US" sz="14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JSON으로 구조화된 작업 요청서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</a:t>
            </a:r>
            <a:endParaRPr lang="en-US" sz="14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AI가 결과를 JSON으로 저장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세션 끊어져도 연속 작업 가능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체계적 작업 관리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자동화 연동 용이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"어디까지 했더라...?" 문제 해결!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7: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Code로 다른 AI 용병 부리기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1168826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16882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ChatGPT(Codex), Gemini, Grok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시키기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 묻기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717466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71746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방식(실행 기반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 API 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66106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226610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= 실행 → 로그 → 검증 → 재실행 루프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814746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81474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AI 강점 활용: 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Codex=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리팩터링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만들기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Gemini=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처리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만들기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Grok=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363386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31520" y="336338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Claude가 오케스트레이터, 나머지 AI가 전문 도구 역할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커맨드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(Commands)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활용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1175808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11758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/resume 끊어진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작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 가능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724448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7244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/status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사용모델 확인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</a:t>
            </a:r>
            <a:r>
              <a:rPr lang="ko-KR" alt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잔여량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73088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22730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자기만의 커맨드를 만들어서 활용하기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원격 접속을 통한 Claude Code 작업시키기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든 내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 </a:t>
            </a:r>
            <a:r>
              <a:rPr lang="ko-KR" alt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작업시키기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카페, 이동 중, 집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밖에서도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장소와 시간의 제약을 벗어나서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연속성 유지</a:t>
            </a: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422FF24-4803-3F8B-D892-595F3A3E6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534" y="2126511"/>
            <a:ext cx="4040372" cy="293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사용법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10: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챗봇으로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Claude Code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지휘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735153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199" y="1238626"/>
            <a:ext cx="5497033" cy="794404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1238626"/>
            <a:ext cx="4643198" cy="59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설치된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통해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무전기 사용방식으로 </a:t>
            </a:r>
            <a:endParaRPr lang="en-US" altLang="ko-KR" sz="1600" b="1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2143251"/>
            <a:ext cx="5497033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2192111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핸드폰의 </a:t>
            </a:r>
            <a:r>
              <a:rPr lang="ko-KR" alt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챗봇을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통해서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지시 → Claude Code가 실행 → 결과 보고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740751"/>
            <a:ext cx="3625702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2740751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중에도 개발 작업을 멈추지 않는다</a:t>
            </a:r>
            <a:endParaRPr lang="en-US" sz="14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7A602AA-7ACB-6BDE-053C-42B9FE747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711" y="939954"/>
            <a:ext cx="2412528" cy="4203546"/>
          </a:xfrm>
          <a:prstGeom prst="rect">
            <a:avLst/>
          </a:prstGeom>
        </p:spPr>
      </p:pic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5"/>
              </a:rPr>
              <a:t>🔗 CPC 시스템 구조도 보기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Magic Show B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Code Skills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</a:t>
            </a:r>
            <a:endParaRPr lang="en-US" sz="15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SAL Grid Dev Suite 스킬 관계도 보기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1: 서브에이전트 투입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106412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64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불러와서 특화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맡기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8687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868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795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 목록에서 적합한 에이전트 선택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717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371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298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지시서와 함께 서브에이전트에 투입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7463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874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801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서브에이전트가 전문 분야 작업 수행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3775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377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304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수신 후 Main Claude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통합·검증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2: 스킬 투입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110600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10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만들어둔 스킬을 찾아와서 현재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투입하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9106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91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83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라이브러리에서 필요한 스킬 검색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135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413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340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스킬을 현재 프로젝트에 투입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9165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91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84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스킬이 정해진 절차대로 작업 수행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41943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419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346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 및 다음 스킬 투입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3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유튜브 제작 프로세스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102224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22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기획부터 대본, 영상 제작, 업로드까지 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8269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826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753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선정·기획안 작성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2983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329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256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대본·스크립트 생성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327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832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759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음성·영상·자막 제작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3356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335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262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편집·썸네일·업로드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뉴스 스크랩 → 저장 → </a:t>
            </a:r>
            <a:r>
              <a:rPr lang="en-US" sz="2400" b="1" dirty="0" err="1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이메일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보내기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103620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3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수집부터 정리, 저장, 이메일 발송까지 자동화 프로세스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8408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840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767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키워드·소스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437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343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270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뉴스 수집·요약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467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846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773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형식으로 저장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34963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349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276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이메일로 자동 발송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5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 &amp; Evaluate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102224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22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검토하고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평가하</a:t>
            </a:r>
            <a:r>
              <a:rPr lang="ko-KR" alt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r>
              <a:rPr lang="en-US" altLang="ko-KR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평가점수가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r>
              <a:rPr lang="ko-KR" alt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점이 될 때까지 반복</a:t>
            </a:r>
            <a:r>
              <a:rPr lang="en-US" altLang="ko-KR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8269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826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753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대상과 평가 기준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2983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329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256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체계적으로 검토 수행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327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832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759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점수·피드백·개선점 리포트 생성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3356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335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262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사항 반영 후 재검토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6: </a:t>
            </a:r>
            <a:r>
              <a:rPr lang="en-US" sz="2400" b="1" dirty="0" err="1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소대편제</a:t>
            </a: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작업팀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구성 및 운용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107110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711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이상의 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군대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소대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 편제로 조직하여 대규모 작업 수행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8757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8757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8026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범위 분석·팀 편성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786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3786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3055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소대장(메인 AI)이 분대별 임무 할당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816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8816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8084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분대(서브에이전트)가 병렬 작업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38453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3845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3113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소대장이 결과 통합·품질 검증</a:t>
            </a:r>
            <a:endParaRPr lang="en-US" sz="13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소대편제 구조도 보기</a:t>
            </a:r>
          </a:p>
        </p:txBody>
      </p:sp>
      <p:sp>
        <p:nvSpPr>
          <p:cNvPr id="20" name="Text 15"/>
          <p:cNvSpPr/>
          <p:nvPr/>
        </p:nvSpPr>
        <p:spPr>
          <a:xfrm>
            <a:off x="1005840" y="3870256"/>
            <a:ext cx="1346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3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※ </a:t>
            </a:r>
            <a:r>
              <a:rPr lang="ko-KR" altLang="en-US" sz="1300" dirty="0" smtClean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특허 출원 완료</a:t>
            </a:r>
            <a:endParaRPr lang="en-US" sz="13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7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 Grid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개발방법론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적용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101526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152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하여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및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81993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8199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7467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방법론 프레임워크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228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322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2497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3차원 그리드로 프로젝트 구조화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257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8257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7526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에이전트별 역할·범위 정의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3286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3286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2555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·완료</a:t>
            </a:r>
            <a:endParaRPr lang="en-US" sz="13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SAL Grid Viewer Database 보기</a:t>
            </a:r>
          </a:p>
        </p:txBody>
      </p:sp>
      <p:sp>
        <p:nvSpPr>
          <p:cNvPr id="20" name="Text 15"/>
          <p:cNvSpPr/>
          <p:nvPr/>
        </p:nvSpPr>
        <p:spPr>
          <a:xfrm>
            <a:off x="1005840" y="3870256"/>
            <a:ext cx="1346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3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※ </a:t>
            </a:r>
            <a:r>
              <a:rPr lang="ko-KR" altLang="en-US" sz="1300" dirty="0" smtClean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특허 출원 완료</a:t>
            </a:r>
            <a:endParaRPr lang="en-US" sz="13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실용 Tips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실용적인 팁 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1: AI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시킬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때 먼저 하는 것들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95244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89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 smtClean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</a:t>
            </a:r>
            <a:r>
              <a:rPr lang="en-US" sz="1800" b="1" dirty="0" smtClean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실행시키지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마라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생각하게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하라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179844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005840" y="17984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"검토 해봐"  — 현재 상태를 먼저 파악시키기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8424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05840" y="24842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"계획 세워봐"  — 실행 전에 로드맵을 만들게 하기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17004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005840" y="31700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"방안을 제시해봐"  — 여러 대안을 먼저 보기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9795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실행은 마지막! 검토 → 계획 → 방안 → 그다음 실행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2: Claude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앱</a:t>
            </a:r>
            <a:r>
              <a:rPr lang="en-US" altLang="ko-KR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데스크탑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54882" y="834390"/>
            <a:ext cx="3931920" cy="3474720"/>
          </a:xfrm>
          <a:prstGeom prst="rect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937762" y="100261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= 현장 기술자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37762" y="150553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실행자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 쓰고 파일 만들고 명령 실행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"MCP 연결하라고? 알겠습니다!"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하고 바로 코드 짬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 도구(터미널)가 있으니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바로 행동하려 함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834390"/>
            <a:ext cx="4023360" cy="3474720"/>
          </a:xfrm>
          <a:prstGeom prst="rect">
            <a:avLst/>
          </a:prstGeom>
          <a:solidFill>
            <a:srgbClr val="1A3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48640" y="100261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</a:t>
            </a:r>
            <a:r>
              <a:rPr lang="ko-KR" alt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앱</a:t>
            </a:r>
            <a:r>
              <a:rPr lang="en-US" altLang="ko-KR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</a:t>
            </a:r>
            <a:r>
              <a:rPr lang="en-US" sz="1600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데스크탑</a:t>
            </a: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= 컨설턴트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50553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상담자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전체 구조를 보고 "왜?" 되물음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"잠깐, 그거 왜 MCP로 감싸요?"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라고 물음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 도구가 없으니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대신 생각을 더 하게 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0112" y="45116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Claude </a:t>
            </a:r>
            <a:r>
              <a:rPr lang="ko-KR" alt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</a:t>
            </a:r>
            <a:r>
              <a:rPr lang="en-US" altLang="ko-KR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데스크탑에서</a:t>
            </a: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전략·설계 →  Claude 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Code에서</a:t>
            </a: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3: Claude Code 12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 준수사항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0467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804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AI-First: 5가지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시도 후 인간에게 요청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39903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50876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거짓 보고 절대 금지: 정확성 &gt; 속도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199339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57200" y="210312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572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1993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추정 절대 금지: 진행 상황만 보고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58775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7200" y="269748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72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2587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제시: 최소 3개 이상 + 추천 의견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18211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검증: 완료 후 반드시 검증 도구 실행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5760" y="377647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38862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572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2960" y="3776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로그 기록: work_logs에 기록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63440" y="80467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4754880" y="9144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75488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20640" y="804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생성 사전 승인: 승인 후 생성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63440" y="139903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4754880" y="150876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7548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12064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생성 사전 승인: 구조 무단 변경 금지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663440" y="199339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4754880" y="210312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47548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120640" y="1993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적극 활용: Skills, Subagents, Commands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63440" y="258775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4754880" y="269748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47548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120640" y="2587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불확실하면 즉시 질문: 추측 금지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63440" y="318211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4754880" y="329184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47548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12064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수립 후 실행: 복잡한 작업은 계획 먼저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663440" y="377647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4754880" y="38862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475488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5120640" y="3776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과잉 금지: 요청받은 것만 정확하게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CLAUDE.md에 반영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활용능력의 측정지표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4055364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0515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6304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효과성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0" y="1051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좋은 서비스를 만드는 능력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22960" y="2011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6304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효율성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74720" y="2011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빠르고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비용으로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만드는 능력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29718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463040" y="2971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수익성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474720" y="2971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출시하여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돈을 버는 능력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023360"/>
            <a:ext cx="786384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48640" y="432447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"그저 뭐 만든다" = "좋은 취미생활 하시네요" 😅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8005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5: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사용료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최적화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방안 적용으로 </a:t>
            </a:r>
            <a:r>
              <a:rPr lang="ko-KR" alt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비용 </a:t>
            </a:r>
            <a:r>
              <a:rPr lang="en-US" sz="2400" b="1" dirty="0" err="1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절감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14624" y="740663"/>
            <a:ext cx="4230188" cy="43199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</a:t>
            </a:r>
            <a:r>
              <a:rPr lang="en-US" sz="2400" b="1" dirty="0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웹검색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시킬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때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크레딧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폭탄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 smtClean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주의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2371" y="777240"/>
            <a:ext cx="4250897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64592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學보다 習이다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百學不如一習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365760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Magic Show | 2026. 02. 20 | Sunny 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2026</Words>
  <Application>Microsoft Office PowerPoint</Application>
  <PresentationFormat>화면 슬라이드 쇼(16:9)</PresentationFormat>
  <Paragraphs>439</Paragraphs>
  <Slides>46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1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Magic Show</dc:title>
  <dc:subject>PptxGenJS Presentation</dc:subject>
  <dc:creator>Sunny</dc:creator>
  <cp:lastModifiedBy>Windows User</cp:lastModifiedBy>
  <cp:revision>15</cp:revision>
  <dcterms:created xsi:type="dcterms:W3CDTF">2026-02-18T17:32:36Z</dcterms:created>
  <dcterms:modified xsi:type="dcterms:W3CDTF">2026-03-09T18:03:22Z</dcterms:modified>
</cp:coreProperties>
</file>